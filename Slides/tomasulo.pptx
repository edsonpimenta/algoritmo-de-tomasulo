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Poppins" charset="1" panose="00000500000000000000"/>
      <p:regular r:id="rId25"/>
    </p:embeddedFont>
    <p:embeddedFont>
      <p:font typeface="Open Sans Bold" charset="1" panose="020B0806030504020204"/>
      <p:regular r:id="rId26"/>
    </p:embeddedFont>
    <p:embeddedFont>
      <p:font typeface="Poppins Bold" charset="1" panose="000008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1183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155132" y="4618817"/>
            <a:ext cx="9977737" cy="47625"/>
            <a:chOff x="0" y="0"/>
            <a:chExt cx="2627881" cy="125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27881" cy="12543"/>
            </a:xfrm>
            <a:custGeom>
              <a:avLst/>
              <a:gdLst/>
              <a:ahLst/>
              <a:cxnLst/>
              <a:rect r="r" b="b" t="t" l="l"/>
              <a:pathLst>
                <a:path h="12543" w="2627881">
                  <a:moveTo>
                    <a:pt x="0" y="0"/>
                  </a:moveTo>
                  <a:lnTo>
                    <a:pt x="2627881" y="0"/>
                  </a:lnTo>
                  <a:lnTo>
                    <a:pt x="262788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627881" cy="69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403839" y="1604837"/>
            <a:ext cx="1602064" cy="2186150"/>
          </a:xfrm>
          <a:custGeom>
            <a:avLst/>
            <a:gdLst/>
            <a:ahLst/>
            <a:cxnLst/>
            <a:rect r="r" b="b" t="t" l="l"/>
            <a:pathLst>
              <a:path h="2186150" w="1602064">
                <a:moveTo>
                  <a:pt x="0" y="0"/>
                </a:moveTo>
                <a:lnTo>
                  <a:pt x="1602064" y="0"/>
                </a:lnTo>
                <a:lnTo>
                  <a:pt x="1602064" y="2186149"/>
                </a:lnTo>
                <a:lnTo>
                  <a:pt x="0" y="21861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70429" y="2437592"/>
            <a:ext cx="11253320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TOMASULO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229350"/>
            <a:ext cx="16230600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Edson Pimenta de Almeida</a:t>
            </a:r>
          </a:p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Luís Augusto Starling Toledo</a:t>
            </a:r>
          </a:p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Túlio Gomes Braga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6593" y="3121783"/>
            <a:ext cx="544214" cy="544214"/>
            <a:chOff x="0" y="0"/>
            <a:chExt cx="725618" cy="72561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935054" y="2545802"/>
            <a:ext cx="3086100" cy="85998"/>
            <a:chOff x="0" y="0"/>
            <a:chExt cx="812800" cy="226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22650"/>
            </a:xfrm>
            <a:custGeom>
              <a:avLst/>
              <a:gdLst/>
              <a:ahLst/>
              <a:cxnLst/>
              <a:rect r="r" b="b" t="t" l="l"/>
              <a:pathLst>
                <a:path h="2265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4445243" y="1211667"/>
            <a:ext cx="3558113" cy="4485724"/>
          </a:xfrm>
          <a:custGeom>
            <a:avLst/>
            <a:gdLst/>
            <a:ahLst/>
            <a:cxnLst/>
            <a:rect r="r" b="b" t="t" l="l"/>
            <a:pathLst>
              <a:path h="4485724" w="3558113">
                <a:moveTo>
                  <a:pt x="0" y="0"/>
                </a:moveTo>
                <a:lnTo>
                  <a:pt x="3558112" y="0"/>
                </a:lnTo>
                <a:lnTo>
                  <a:pt x="3558112" y="4485724"/>
                </a:lnTo>
                <a:lnTo>
                  <a:pt x="0" y="44857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65" r="0" b="-765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00807" y="1049742"/>
            <a:ext cx="9170513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ALGORITMO DE TOMASULO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2390" y="2947501"/>
            <a:ext cx="12197202" cy="4978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3"/>
              </a:lnSpc>
            </a:pPr>
            <a:r>
              <a:rPr lang="en-US" sz="35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Algoritmo de Tomasulo implementa o escalonamento dinâmico de instruções, permitindo que o processador execute instruções fora da ordem original do programa (Out-of-Order Execution) para evitar que a CPU fique ociosa enquanto espera por dados.</a:t>
            </a:r>
          </a:p>
          <a:p>
            <a:pPr algn="l">
              <a:lnSpc>
                <a:spcPts val="4933"/>
              </a:lnSpc>
            </a:pPr>
          </a:p>
          <a:p>
            <a:pPr algn="l">
              <a:lnSpc>
                <a:spcPts val="4933"/>
              </a:lnSpc>
            </a:pPr>
          </a:p>
        </p:txBody>
      </p:sp>
    </p:spTree>
  </p:cSld>
  <p:clrMapOvr>
    <a:masterClrMapping/>
  </p:clrMapOvr>
  <p:transition spd="fast">
    <p:cover dir="d"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74481" y="2370954"/>
            <a:ext cx="3086100" cy="85998"/>
            <a:chOff x="0" y="0"/>
            <a:chExt cx="812800" cy="22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2650"/>
            </a:xfrm>
            <a:custGeom>
              <a:avLst/>
              <a:gdLst/>
              <a:ahLst/>
              <a:cxnLst/>
              <a:rect r="r" b="b" t="t" l="l"/>
              <a:pathLst>
                <a:path h="2265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855595"/>
            <a:ext cx="12063761" cy="640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2" indent="-356236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Maximizar o Paralelismo:</a:t>
            </a:r>
            <a:r>
              <a:rPr lang="en-US" sz="3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Aumentar o número de instruções executadas por ciclo</a:t>
            </a:r>
          </a:p>
          <a:p>
            <a:pPr algn="l">
              <a:lnSpc>
                <a:spcPts val="4620"/>
              </a:lnSpc>
            </a:pPr>
          </a:p>
          <a:p>
            <a:pPr algn="l" marL="712472" indent="-356236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Minimizar Paradas (Stalls):</a:t>
            </a:r>
            <a:r>
              <a:rPr lang="en-US" sz="3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Evitar que o processador pare completamente só porque uma instrução lenta  está bloqueando o caminho.</a:t>
            </a:r>
          </a:p>
          <a:p>
            <a:pPr algn="l">
              <a:lnSpc>
                <a:spcPts val="4620"/>
              </a:lnSpc>
            </a:pPr>
          </a:p>
          <a:p>
            <a:pPr algn="l" marL="712472" indent="-356236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Resolver Dependências:</a:t>
            </a:r>
            <a:r>
              <a:rPr lang="en-US" sz="3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Eliminar dependências falsas de dados (WAR e WAW) através do renomeamento de registradores em hardware.</a:t>
            </a:r>
          </a:p>
          <a:p>
            <a:pPr algn="l">
              <a:lnSpc>
                <a:spcPts val="462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66775"/>
            <a:ext cx="9170513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QUAL A SUA FINALIDADE?</a:t>
            </a:r>
          </a:p>
        </p:txBody>
      </p:sp>
    </p:spTree>
  </p:cSld>
  <p:clrMapOvr>
    <a:masterClrMapping/>
  </p:clrMapOvr>
  <p:transition spd="fast">
    <p:cover dir="d"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20244" y="2146888"/>
            <a:ext cx="3086100" cy="85998"/>
            <a:chOff x="0" y="0"/>
            <a:chExt cx="812800" cy="22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2650"/>
            </a:xfrm>
            <a:custGeom>
              <a:avLst/>
              <a:gdLst/>
              <a:ahLst/>
              <a:cxnLst/>
              <a:rect r="r" b="b" t="t" l="l"/>
              <a:pathLst>
                <a:path h="2265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407465"/>
            <a:ext cx="14667370" cy="756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2" indent="-356236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Estações de Reserva (Reservation Stations):</a:t>
            </a:r>
            <a:r>
              <a:rPr lang="en-US" sz="3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Buffers na entrada das unidades funcionais (ALUs) que permitem que o processador busque novas instruções mesmo que as anteriores não tenham terminado.</a:t>
            </a:r>
          </a:p>
          <a:p>
            <a:pPr algn="l">
              <a:lnSpc>
                <a:spcPts val="4620"/>
              </a:lnSpc>
            </a:pPr>
          </a:p>
          <a:p>
            <a:pPr algn="l" marL="712472" indent="-356236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Common Data Bus (CDB):</a:t>
            </a:r>
            <a:r>
              <a:rPr lang="en-US" sz="3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Um barramento de dados que conecta a saída das unidades funcionais diretamente às estações de reserva e aos registradores. Permite o "broadcast" (transmissão) do resultado assim que ele fica pronto.</a:t>
            </a:r>
          </a:p>
          <a:p>
            <a:pPr algn="l">
              <a:lnSpc>
                <a:spcPts val="4620"/>
              </a:lnSpc>
            </a:pPr>
          </a:p>
          <a:p>
            <a:pPr algn="l" marL="712472" indent="-356236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Fila de Instruções :</a:t>
            </a:r>
            <a:r>
              <a:rPr lang="en-US" sz="3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 onde as instruções são despachadas.</a:t>
            </a:r>
          </a:p>
          <a:p>
            <a:pPr algn="l">
              <a:lnSpc>
                <a:spcPts val="4620"/>
              </a:lnSpc>
            </a:pPr>
          </a:p>
          <a:p>
            <a:pPr algn="l">
              <a:lnSpc>
                <a:spcPts val="462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20387"/>
            <a:ext cx="9170513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COMPONENTES PRINCIPAIS</a:t>
            </a:r>
          </a:p>
        </p:txBody>
      </p:sp>
    </p:spTree>
  </p:cSld>
  <p:clrMapOvr>
    <a:masterClrMapping/>
  </p:clrMapOvr>
  <p:transition spd="fast">
    <p:cover dir="d"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20117" y="3077503"/>
            <a:ext cx="9077537" cy="85773"/>
            <a:chOff x="0" y="0"/>
            <a:chExt cx="2390792" cy="225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90792" cy="22590"/>
            </a:xfrm>
            <a:custGeom>
              <a:avLst/>
              <a:gdLst/>
              <a:ahLst/>
              <a:cxnLst/>
              <a:rect r="r" b="b" t="t" l="l"/>
              <a:pathLst>
                <a:path h="22590" w="2390792">
                  <a:moveTo>
                    <a:pt x="0" y="0"/>
                  </a:moveTo>
                  <a:lnTo>
                    <a:pt x="2390792" y="0"/>
                  </a:lnTo>
                  <a:lnTo>
                    <a:pt x="2390792" y="22590"/>
                  </a:lnTo>
                  <a:lnTo>
                    <a:pt x="0" y="2259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90792" cy="60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436620"/>
            <a:ext cx="14667370" cy="582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2" indent="-356236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 Problema:</a:t>
            </a:r>
            <a:r>
              <a:rPr lang="en-US" sz="3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Em arquiteturas antigas, usar o mesmo nome de registrador (ex: R1) para cálculos diferentes causava conflitos.</a:t>
            </a:r>
          </a:p>
          <a:p>
            <a:pPr algn="l">
              <a:lnSpc>
                <a:spcPts val="4620"/>
              </a:lnSpc>
            </a:pPr>
          </a:p>
          <a:p>
            <a:pPr algn="l" marL="712472" indent="-356236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 Solução:</a:t>
            </a:r>
            <a:r>
              <a:rPr lang="en-US" sz="3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 algoritmo substitui o nome do registrador arquitetural pelo nome da Estação de Reserva que produzirá o valor.</a:t>
            </a:r>
          </a:p>
          <a:p>
            <a:pPr algn="l">
              <a:lnSpc>
                <a:spcPts val="4620"/>
              </a:lnSpc>
            </a:pPr>
          </a:p>
          <a:p>
            <a:pPr algn="l" marL="712472" indent="-356236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 Resultado:</a:t>
            </a:r>
            <a:r>
              <a:rPr lang="en-US" sz="3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Isso elimina conflitos de escrita (WAR - Write After Read e WAW - Write After Write), permitindo que o loop continue executando sem esperar a iteração anterior terminar fisicamente.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76300"/>
            <a:ext cx="14168606" cy="1832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0"/>
              </a:lnSpc>
            </a:pPr>
            <a:r>
              <a:rPr lang="en-US" sz="5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COMO FUNCIONA O RENOMEAMENTO DE REGISTRADORES?</a:t>
            </a:r>
          </a:p>
        </p:txBody>
      </p:sp>
    </p:spTree>
  </p:cSld>
  <p:clrMapOvr>
    <a:masterClrMapping/>
  </p:clrMapOvr>
  <p:transition spd="fast">
    <p:cover dir="d"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86405" y="1720445"/>
            <a:ext cx="3086100" cy="85998"/>
            <a:chOff x="0" y="0"/>
            <a:chExt cx="812800" cy="22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2650"/>
            </a:xfrm>
            <a:custGeom>
              <a:avLst/>
              <a:gdLst/>
              <a:ahLst/>
              <a:cxnLst/>
              <a:rect r="r" b="b" t="t" l="l"/>
              <a:pathLst>
                <a:path h="2265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82312" y="1978758"/>
            <a:ext cx="14667370" cy="756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2" indent="-356236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Despacho (Issue):</a:t>
            </a:r>
            <a:r>
              <a:rPr lang="en-US" sz="3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Se houver uma estação de reserva livre, a instrução é enviada e os registradores são renomeados para evitar conflitos.</a:t>
            </a:r>
          </a:p>
          <a:p>
            <a:pPr algn="l">
              <a:lnSpc>
                <a:spcPts val="4620"/>
              </a:lnSpc>
            </a:pPr>
          </a:p>
          <a:p>
            <a:pPr algn="l" marL="712472" indent="-356236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Execução (Execute):</a:t>
            </a:r>
            <a:r>
              <a:rPr lang="en-US" sz="3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 instrução monitora o barramento (CDB) aguardando seus operandos. Assim que os dados chegam, ela executa (permitindo o fluxo fora de ordem).</a:t>
            </a:r>
          </a:p>
          <a:p>
            <a:pPr algn="l">
              <a:lnSpc>
                <a:spcPts val="4620"/>
              </a:lnSpc>
            </a:pPr>
          </a:p>
          <a:p>
            <a:pPr algn="l" marL="712472" indent="-356236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Escrita (Write Result):</a:t>
            </a:r>
            <a:r>
              <a:rPr lang="en-US" sz="3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 resultado calculado é transmitido no barramento (CDB) para todas as estações e registradores que estavam esperando, liberando a unidade funcional.</a:t>
            </a:r>
          </a:p>
          <a:p>
            <a:pPr algn="l">
              <a:lnSpc>
                <a:spcPts val="4620"/>
              </a:lnSpc>
            </a:pPr>
          </a:p>
          <a:p>
            <a:pPr algn="l">
              <a:lnSpc>
                <a:spcPts val="462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446950" y="442595"/>
            <a:ext cx="12150548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OS 3 ESTÁGIOS DO ALGORITMO</a:t>
            </a:r>
          </a:p>
        </p:txBody>
      </p:sp>
    </p:spTree>
  </p:cSld>
  <p:clrMapOvr>
    <a:masterClrMapping/>
  </p:clrMapOvr>
  <p:transition spd="fast">
    <p:cover dir="d"/>
  </p:transition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75888" y="1743075"/>
            <a:ext cx="13136225" cy="644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b="true" sz="1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VALIDAÇÃO ESPECULAÇÃO  E FLUSH</a:t>
            </a:r>
          </a:p>
        </p:txBody>
      </p:sp>
    </p:spTree>
  </p:cSld>
  <p:clrMapOvr>
    <a:masterClrMapping/>
  </p:clrMapOvr>
  <p:transition spd="fast">
    <p:cover dir="d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454" y="5826387"/>
            <a:ext cx="18288000" cy="4354286"/>
          </a:xfrm>
          <a:custGeom>
            <a:avLst/>
            <a:gdLst/>
            <a:ahLst/>
            <a:cxnLst/>
            <a:rect r="r" b="b" t="t" l="l"/>
            <a:pathLst>
              <a:path h="4354286" w="18288000">
                <a:moveTo>
                  <a:pt x="0" y="0"/>
                </a:moveTo>
                <a:lnTo>
                  <a:pt x="18288000" y="0"/>
                </a:lnTo>
                <a:lnTo>
                  <a:pt x="18288000" y="4354286"/>
                </a:lnTo>
                <a:lnTo>
                  <a:pt x="0" y="43542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484908" cy="5826387"/>
          </a:xfrm>
          <a:custGeom>
            <a:avLst/>
            <a:gdLst/>
            <a:ahLst/>
            <a:cxnLst/>
            <a:rect r="r" b="b" t="t" l="l"/>
            <a:pathLst>
              <a:path h="5826387" w="18484908">
                <a:moveTo>
                  <a:pt x="0" y="0"/>
                </a:moveTo>
                <a:lnTo>
                  <a:pt x="18484908" y="0"/>
                </a:lnTo>
                <a:lnTo>
                  <a:pt x="18484908" y="5826387"/>
                </a:lnTo>
                <a:lnTo>
                  <a:pt x="0" y="58263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66217" y="2913194"/>
            <a:ext cx="1045271" cy="954048"/>
          </a:xfrm>
          <a:custGeom>
            <a:avLst/>
            <a:gdLst/>
            <a:ahLst/>
            <a:cxnLst/>
            <a:rect r="r" b="b" t="t" l="l"/>
            <a:pathLst>
              <a:path h="954048" w="1045271">
                <a:moveTo>
                  <a:pt x="0" y="0"/>
                </a:moveTo>
                <a:lnTo>
                  <a:pt x="1045271" y="0"/>
                </a:lnTo>
                <a:lnTo>
                  <a:pt x="1045271" y="954048"/>
                </a:lnTo>
                <a:lnTo>
                  <a:pt x="0" y="9540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926716">
            <a:off x="7073050" y="3690900"/>
            <a:ext cx="3391746" cy="563878"/>
          </a:xfrm>
          <a:custGeom>
            <a:avLst/>
            <a:gdLst/>
            <a:ahLst/>
            <a:cxnLst/>
            <a:rect r="r" b="b" t="t" l="l"/>
            <a:pathLst>
              <a:path h="563878" w="3391746">
                <a:moveTo>
                  <a:pt x="0" y="0"/>
                </a:moveTo>
                <a:lnTo>
                  <a:pt x="3391746" y="0"/>
                </a:lnTo>
                <a:lnTo>
                  <a:pt x="3391746" y="563877"/>
                </a:lnTo>
                <a:lnTo>
                  <a:pt x="0" y="5638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382791">
            <a:off x="7033836" y="4151846"/>
            <a:ext cx="3445477" cy="572811"/>
          </a:xfrm>
          <a:custGeom>
            <a:avLst/>
            <a:gdLst/>
            <a:ahLst/>
            <a:cxnLst/>
            <a:rect r="r" b="b" t="t" l="l"/>
            <a:pathLst>
              <a:path h="572811" w="3445477">
                <a:moveTo>
                  <a:pt x="0" y="0"/>
                </a:moveTo>
                <a:lnTo>
                  <a:pt x="3445477" y="0"/>
                </a:lnTo>
                <a:lnTo>
                  <a:pt x="3445477" y="572811"/>
                </a:lnTo>
                <a:lnTo>
                  <a:pt x="0" y="5728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013912"/>
            <a:ext cx="18288000" cy="3992497"/>
          </a:xfrm>
          <a:custGeom>
            <a:avLst/>
            <a:gdLst/>
            <a:ahLst/>
            <a:cxnLst/>
            <a:rect r="r" b="b" t="t" l="l"/>
            <a:pathLst>
              <a:path h="3992497" w="18288000">
                <a:moveTo>
                  <a:pt x="0" y="0"/>
                </a:moveTo>
                <a:lnTo>
                  <a:pt x="18288000" y="0"/>
                </a:lnTo>
                <a:lnTo>
                  <a:pt x="18288000" y="3992497"/>
                </a:lnTo>
                <a:lnTo>
                  <a:pt x="0" y="39924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9" t="0" r="-180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006409"/>
            <a:ext cx="18288000" cy="3716894"/>
          </a:xfrm>
          <a:custGeom>
            <a:avLst/>
            <a:gdLst/>
            <a:ahLst/>
            <a:cxnLst/>
            <a:rect r="r" b="b" t="t" l="l"/>
            <a:pathLst>
              <a:path h="3716894" w="18288000">
                <a:moveTo>
                  <a:pt x="0" y="0"/>
                </a:moveTo>
                <a:lnTo>
                  <a:pt x="18288000" y="0"/>
                </a:lnTo>
                <a:lnTo>
                  <a:pt x="18288000" y="3716894"/>
                </a:lnTo>
                <a:lnTo>
                  <a:pt x="0" y="37168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1" t="0" r="-1279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92312" y="-271640"/>
            <a:ext cx="7903376" cy="152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98"/>
              </a:lnSpc>
            </a:pPr>
            <a:r>
              <a:rPr lang="en-US" sz="84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2° CICLO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835488"/>
            <a:ext cx="18288000" cy="4083409"/>
          </a:xfrm>
          <a:custGeom>
            <a:avLst/>
            <a:gdLst/>
            <a:ahLst/>
            <a:cxnLst/>
            <a:rect r="r" b="b" t="t" l="l"/>
            <a:pathLst>
              <a:path h="4083409" w="18288000">
                <a:moveTo>
                  <a:pt x="0" y="0"/>
                </a:moveTo>
                <a:lnTo>
                  <a:pt x="18288000" y="0"/>
                </a:lnTo>
                <a:lnTo>
                  <a:pt x="18288000" y="4083409"/>
                </a:lnTo>
                <a:lnTo>
                  <a:pt x="0" y="40834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9" t="0" r="-1062" b="-189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026102"/>
            <a:ext cx="18392049" cy="3609440"/>
          </a:xfrm>
          <a:custGeom>
            <a:avLst/>
            <a:gdLst/>
            <a:ahLst/>
            <a:cxnLst/>
            <a:rect r="r" b="b" t="t" l="l"/>
            <a:pathLst>
              <a:path h="3609440" w="18392049">
                <a:moveTo>
                  <a:pt x="0" y="0"/>
                </a:moveTo>
                <a:lnTo>
                  <a:pt x="18392049" y="0"/>
                </a:lnTo>
                <a:lnTo>
                  <a:pt x="18392049" y="3609439"/>
                </a:lnTo>
                <a:lnTo>
                  <a:pt x="0" y="3609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27128" y="5094428"/>
            <a:ext cx="903303" cy="824469"/>
          </a:xfrm>
          <a:custGeom>
            <a:avLst/>
            <a:gdLst/>
            <a:ahLst/>
            <a:cxnLst/>
            <a:rect r="r" b="b" t="t" l="l"/>
            <a:pathLst>
              <a:path h="824469" w="903303">
                <a:moveTo>
                  <a:pt x="0" y="0"/>
                </a:moveTo>
                <a:lnTo>
                  <a:pt x="903303" y="0"/>
                </a:lnTo>
                <a:lnTo>
                  <a:pt x="903303" y="824469"/>
                </a:lnTo>
                <a:lnTo>
                  <a:pt x="0" y="8244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92312" y="-238125"/>
            <a:ext cx="7903376" cy="152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98"/>
              </a:lnSpc>
            </a:pPr>
            <a:r>
              <a:rPr lang="en-US" sz="84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4° CICLO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644037" y="3877192"/>
            <a:ext cx="903303" cy="824469"/>
          </a:xfrm>
          <a:custGeom>
            <a:avLst/>
            <a:gdLst/>
            <a:ahLst/>
            <a:cxnLst/>
            <a:rect r="r" b="b" t="t" l="l"/>
            <a:pathLst>
              <a:path h="824469" w="903303">
                <a:moveTo>
                  <a:pt x="0" y="0"/>
                </a:moveTo>
                <a:lnTo>
                  <a:pt x="903303" y="0"/>
                </a:lnTo>
                <a:lnTo>
                  <a:pt x="903303" y="824469"/>
                </a:lnTo>
                <a:lnTo>
                  <a:pt x="0" y="8244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08362" y="7213691"/>
            <a:ext cx="903303" cy="824469"/>
          </a:xfrm>
          <a:custGeom>
            <a:avLst/>
            <a:gdLst/>
            <a:ahLst/>
            <a:cxnLst/>
            <a:rect r="r" b="b" t="t" l="l"/>
            <a:pathLst>
              <a:path h="824469" w="903303">
                <a:moveTo>
                  <a:pt x="0" y="0"/>
                </a:moveTo>
                <a:lnTo>
                  <a:pt x="903303" y="0"/>
                </a:lnTo>
                <a:lnTo>
                  <a:pt x="903303" y="824469"/>
                </a:lnTo>
                <a:lnTo>
                  <a:pt x="0" y="8244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5397" y="4682193"/>
            <a:ext cx="903303" cy="824469"/>
          </a:xfrm>
          <a:custGeom>
            <a:avLst/>
            <a:gdLst/>
            <a:ahLst/>
            <a:cxnLst/>
            <a:rect r="r" b="b" t="t" l="l"/>
            <a:pathLst>
              <a:path h="824469" w="903303">
                <a:moveTo>
                  <a:pt x="0" y="0"/>
                </a:moveTo>
                <a:lnTo>
                  <a:pt x="903303" y="0"/>
                </a:lnTo>
                <a:lnTo>
                  <a:pt x="903303" y="824469"/>
                </a:lnTo>
                <a:lnTo>
                  <a:pt x="0" y="8244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174338"/>
            <a:ext cx="18288000" cy="4064927"/>
          </a:xfrm>
          <a:custGeom>
            <a:avLst/>
            <a:gdLst/>
            <a:ahLst/>
            <a:cxnLst/>
            <a:rect r="r" b="b" t="t" l="l"/>
            <a:pathLst>
              <a:path h="4064927" w="18288000">
                <a:moveTo>
                  <a:pt x="0" y="0"/>
                </a:moveTo>
                <a:lnTo>
                  <a:pt x="18288000" y="0"/>
                </a:lnTo>
                <a:lnTo>
                  <a:pt x="18288000" y="4064928"/>
                </a:lnTo>
                <a:lnTo>
                  <a:pt x="0" y="40649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0" t="0" r="-11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453580"/>
            <a:ext cx="18288000" cy="3634740"/>
          </a:xfrm>
          <a:custGeom>
            <a:avLst/>
            <a:gdLst/>
            <a:ahLst/>
            <a:cxnLst/>
            <a:rect r="r" b="b" t="t" l="l"/>
            <a:pathLst>
              <a:path h="3634740" w="18288000">
                <a:moveTo>
                  <a:pt x="0" y="0"/>
                </a:moveTo>
                <a:lnTo>
                  <a:pt x="18288000" y="0"/>
                </a:lnTo>
                <a:lnTo>
                  <a:pt x="18288000" y="3634740"/>
                </a:lnTo>
                <a:lnTo>
                  <a:pt x="0" y="36347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97126" y="6598862"/>
            <a:ext cx="903303" cy="824469"/>
          </a:xfrm>
          <a:custGeom>
            <a:avLst/>
            <a:gdLst/>
            <a:ahLst/>
            <a:cxnLst/>
            <a:rect r="r" b="b" t="t" l="l"/>
            <a:pathLst>
              <a:path h="824469" w="903303">
                <a:moveTo>
                  <a:pt x="0" y="0"/>
                </a:moveTo>
                <a:lnTo>
                  <a:pt x="903303" y="0"/>
                </a:lnTo>
                <a:lnTo>
                  <a:pt x="903303" y="824469"/>
                </a:lnTo>
                <a:lnTo>
                  <a:pt x="0" y="8244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23922" y="-348180"/>
            <a:ext cx="7903376" cy="152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98"/>
              </a:lnSpc>
            </a:pPr>
            <a:r>
              <a:rPr lang="en-US" sz="84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5° CICLO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7384697" y="6598862"/>
            <a:ext cx="903303" cy="824469"/>
          </a:xfrm>
          <a:custGeom>
            <a:avLst/>
            <a:gdLst/>
            <a:ahLst/>
            <a:cxnLst/>
            <a:rect r="r" b="b" t="t" l="l"/>
            <a:pathLst>
              <a:path h="824469" w="903303">
                <a:moveTo>
                  <a:pt x="0" y="0"/>
                </a:moveTo>
                <a:lnTo>
                  <a:pt x="903303" y="0"/>
                </a:lnTo>
                <a:lnTo>
                  <a:pt x="903303" y="824469"/>
                </a:lnTo>
                <a:lnTo>
                  <a:pt x="0" y="8244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571479" y="4510562"/>
            <a:ext cx="798380" cy="728703"/>
          </a:xfrm>
          <a:custGeom>
            <a:avLst/>
            <a:gdLst/>
            <a:ahLst/>
            <a:cxnLst/>
            <a:rect r="r" b="b" t="t" l="l"/>
            <a:pathLst>
              <a:path h="728703" w="798380">
                <a:moveTo>
                  <a:pt x="0" y="0"/>
                </a:moveTo>
                <a:lnTo>
                  <a:pt x="798380" y="0"/>
                </a:lnTo>
                <a:lnTo>
                  <a:pt x="798380" y="728704"/>
                </a:lnTo>
                <a:lnTo>
                  <a:pt x="0" y="728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571479" y="3206802"/>
            <a:ext cx="903303" cy="824469"/>
          </a:xfrm>
          <a:custGeom>
            <a:avLst/>
            <a:gdLst/>
            <a:ahLst/>
            <a:cxnLst/>
            <a:rect r="r" b="b" t="t" l="l"/>
            <a:pathLst>
              <a:path h="824469" w="903303">
                <a:moveTo>
                  <a:pt x="0" y="0"/>
                </a:moveTo>
                <a:lnTo>
                  <a:pt x="903303" y="0"/>
                </a:lnTo>
                <a:lnTo>
                  <a:pt x="903303" y="824469"/>
                </a:lnTo>
                <a:lnTo>
                  <a:pt x="0" y="8244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131920"/>
            <a:ext cx="18288000" cy="3817620"/>
          </a:xfrm>
          <a:custGeom>
            <a:avLst/>
            <a:gdLst/>
            <a:ahLst/>
            <a:cxnLst/>
            <a:rect r="r" b="b" t="t" l="l"/>
            <a:pathLst>
              <a:path h="3817620" w="18288000">
                <a:moveTo>
                  <a:pt x="0" y="0"/>
                </a:moveTo>
                <a:lnTo>
                  <a:pt x="18288000" y="0"/>
                </a:lnTo>
                <a:lnTo>
                  <a:pt x="18288000" y="3817620"/>
                </a:lnTo>
                <a:lnTo>
                  <a:pt x="0" y="3817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18288000" cy="3680460"/>
          </a:xfrm>
          <a:custGeom>
            <a:avLst/>
            <a:gdLst/>
            <a:ahLst/>
            <a:cxnLst/>
            <a:rect r="r" b="b" t="t" l="l"/>
            <a:pathLst>
              <a:path h="3680460" w="18288000">
                <a:moveTo>
                  <a:pt x="0" y="0"/>
                </a:moveTo>
                <a:lnTo>
                  <a:pt x="18288000" y="0"/>
                </a:lnTo>
                <a:lnTo>
                  <a:pt x="18288000" y="3680460"/>
                </a:lnTo>
                <a:lnTo>
                  <a:pt x="0" y="36804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23922" y="-348180"/>
            <a:ext cx="7903376" cy="152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98"/>
              </a:lnSpc>
            </a:pPr>
            <a:r>
              <a:rPr lang="en-US" sz="84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6° CICLO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439265"/>
            <a:ext cx="18288000" cy="3863340"/>
          </a:xfrm>
          <a:custGeom>
            <a:avLst/>
            <a:gdLst/>
            <a:ahLst/>
            <a:cxnLst/>
            <a:rect r="r" b="b" t="t" l="l"/>
            <a:pathLst>
              <a:path h="3863340" w="18288000">
                <a:moveTo>
                  <a:pt x="0" y="0"/>
                </a:moveTo>
                <a:lnTo>
                  <a:pt x="18288000" y="0"/>
                </a:lnTo>
                <a:lnTo>
                  <a:pt x="18288000" y="3863340"/>
                </a:lnTo>
                <a:lnTo>
                  <a:pt x="0" y="386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406417"/>
            <a:ext cx="18288000" cy="3657600"/>
          </a:xfrm>
          <a:custGeom>
            <a:avLst/>
            <a:gdLst/>
            <a:ahLst/>
            <a:cxnLst/>
            <a:rect r="r" b="b" t="t" l="l"/>
            <a:pathLst>
              <a:path h="3657600" w="18288000">
                <a:moveTo>
                  <a:pt x="0" y="0"/>
                </a:moveTo>
                <a:lnTo>
                  <a:pt x="18288000" y="0"/>
                </a:lnTo>
                <a:lnTo>
                  <a:pt x="182880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23922" y="-348180"/>
            <a:ext cx="7903376" cy="152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98"/>
              </a:lnSpc>
            </a:pPr>
            <a:r>
              <a:rPr lang="en-US" sz="84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9° CICLO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690209"/>
            <a:ext cx="18288000" cy="3720951"/>
          </a:xfrm>
          <a:custGeom>
            <a:avLst/>
            <a:gdLst/>
            <a:ahLst/>
            <a:cxnLst/>
            <a:rect r="r" b="b" t="t" l="l"/>
            <a:pathLst>
              <a:path h="3720951" w="18288000">
                <a:moveTo>
                  <a:pt x="0" y="0"/>
                </a:moveTo>
                <a:lnTo>
                  <a:pt x="18288000" y="0"/>
                </a:lnTo>
                <a:lnTo>
                  <a:pt x="18288000" y="3720951"/>
                </a:lnTo>
                <a:lnTo>
                  <a:pt x="0" y="37209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1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727757"/>
            <a:ext cx="18288000" cy="3771900"/>
          </a:xfrm>
          <a:custGeom>
            <a:avLst/>
            <a:gdLst/>
            <a:ahLst/>
            <a:cxnLst/>
            <a:rect r="r" b="b" t="t" l="l"/>
            <a:pathLst>
              <a:path h="3771900" w="18288000">
                <a:moveTo>
                  <a:pt x="0" y="0"/>
                </a:moveTo>
                <a:lnTo>
                  <a:pt x="18288000" y="0"/>
                </a:lnTo>
                <a:lnTo>
                  <a:pt x="18288000" y="3771900"/>
                </a:lnTo>
                <a:lnTo>
                  <a:pt x="0" y="3771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23922" y="-348180"/>
            <a:ext cx="7903376" cy="152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98"/>
              </a:lnSpc>
            </a:pPr>
            <a:r>
              <a:rPr lang="en-US" sz="84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10° CICLO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44349" y="2033451"/>
            <a:ext cx="12799302" cy="6220099"/>
          </a:xfrm>
          <a:custGeom>
            <a:avLst/>
            <a:gdLst/>
            <a:ahLst/>
            <a:cxnLst/>
            <a:rect r="r" b="b" t="t" l="l"/>
            <a:pathLst>
              <a:path h="6220099" w="12799302">
                <a:moveTo>
                  <a:pt x="0" y="0"/>
                </a:moveTo>
                <a:lnTo>
                  <a:pt x="12799302" y="0"/>
                </a:lnTo>
                <a:lnTo>
                  <a:pt x="12799302" y="6220098"/>
                </a:lnTo>
                <a:lnTo>
                  <a:pt x="0" y="62200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12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23922" y="-348180"/>
            <a:ext cx="7903376" cy="152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98"/>
              </a:lnSpc>
            </a:pPr>
            <a:r>
              <a:rPr lang="en-US" sz="84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11° CICLO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7193" y="2520849"/>
            <a:ext cx="17353614" cy="5245302"/>
          </a:xfrm>
          <a:custGeom>
            <a:avLst/>
            <a:gdLst/>
            <a:ahLst/>
            <a:cxnLst/>
            <a:rect r="r" b="b" t="t" l="l"/>
            <a:pathLst>
              <a:path h="5245302" w="17353614">
                <a:moveTo>
                  <a:pt x="0" y="0"/>
                </a:moveTo>
                <a:lnTo>
                  <a:pt x="17353614" y="0"/>
                </a:lnTo>
                <a:lnTo>
                  <a:pt x="17353614" y="5245302"/>
                </a:lnTo>
                <a:lnTo>
                  <a:pt x="0" y="52453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40662" y="4547567"/>
            <a:ext cx="1829759" cy="1670071"/>
          </a:xfrm>
          <a:custGeom>
            <a:avLst/>
            <a:gdLst/>
            <a:ahLst/>
            <a:cxnLst/>
            <a:rect r="r" b="b" t="t" l="l"/>
            <a:pathLst>
              <a:path h="1670071" w="1829759">
                <a:moveTo>
                  <a:pt x="0" y="0"/>
                </a:moveTo>
                <a:lnTo>
                  <a:pt x="1829759" y="0"/>
                </a:lnTo>
                <a:lnTo>
                  <a:pt x="1829759" y="1670072"/>
                </a:lnTo>
                <a:lnTo>
                  <a:pt x="0" y="16700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469130" y="2657471"/>
            <a:ext cx="2371621" cy="4114800"/>
          </a:xfrm>
          <a:custGeom>
            <a:avLst/>
            <a:gdLst/>
            <a:ahLst/>
            <a:cxnLst/>
            <a:rect r="r" b="b" t="t" l="l"/>
            <a:pathLst>
              <a:path h="4114800" w="2371621">
                <a:moveTo>
                  <a:pt x="0" y="0"/>
                </a:moveTo>
                <a:lnTo>
                  <a:pt x="2371621" y="0"/>
                </a:lnTo>
                <a:lnTo>
                  <a:pt x="23716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2296" y="0"/>
            <a:ext cx="17503408" cy="5274857"/>
          </a:xfrm>
          <a:custGeom>
            <a:avLst/>
            <a:gdLst/>
            <a:ahLst/>
            <a:cxnLst/>
            <a:rect r="r" b="b" t="t" l="l"/>
            <a:pathLst>
              <a:path h="5274857" w="17503408">
                <a:moveTo>
                  <a:pt x="0" y="0"/>
                </a:moveTo>
                <a:lnTo>
                  <a:pt x="17503408" y="0"/>
                </a:lnTo>
                <a:lnTo>
                  <a:pt x="17503408" y="5274857"/>
                </a:lnTo>
                <a:lnTo>
                  <a:pt x="0" y="52748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799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41656" y="2226553"/>
            <a:ext cx="1829759" cy="1670071"/>
          </a:xfrm>
          <a:custGeom>
            <a:avLst/>
            <a:gdLst/>
            <a:ahLst/>
            <a:cxnLst/>
            <a:rect r="r" b="b" t="t" l="l"/>
            <a:pathLst>
              <a:path h="1670071" w="1829759">
                <a:moveTo>
                  <a:pt x="0" y="0"/>
                </a:moveTo>
                <a:lnTo>
                  <a:pt x="1829759" y="0"/>
                </a:lnTo>
                <a:lnTo>
                  <a:pt x="1829759" y="1670072"/>
                </a:lnTo>
                <a:lnTo>
                  <a:pt x="0" y="16700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016" y="5676083"/>
            <a:ext cx="18171984" cy="3781223"/>
          </a:xfrm>
          <a:custGeom>
            <a:avLst/>
            <a:gdLst/>
            <a:ahLst/>
            <a:cxnLst/>
            <a:rect r="r" b="b" t="t" l="l"/>
            <a:pathLst>
              <a:path h="3781223" w="18171984">
                <a:moveTo>
                  <a:pt x="0" y="0"/>
                </a:moveTo>
                <a:lnTo>
                  <a:pt x="18171984" y="0"/>
                </a:lnTo>
                <a:lnTo>
                  <a:pt x="18171984" y="3781223"/>
                </a:lnTo>
                <a:lnTo>
                  <a:pt x="0" y="37812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62" t="0" r="-1062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3472" y="1620600"/>
            <a:ext cx="18471472" cy="3809741"/>
          </a:xfrm>
          <a:custGeom>
            <a:avLst/>
            <a:gdLst/>
            <a:ahLst/>
            <a:cxnLst/>
            <a:rect r="r" b="b" t="t" l="l"/>
            <a:pathLst>
              <a:path h="3809741" w="18471472">
                <a:moveTo>
                  <a:pt x="0" y="0"/>
                </a:moveTo>
                <a:lnTo>
                  <a:pt x="18471472" y="0"/>
                </a:lnTo>
                <a:lnTo>
                  <a:pt x="18471472" y="3809741"/>
                </a:lnTo>
                <a:lnTo>
                  <a:pt x="0" y="38097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541512"/>
            <a:ext cx="18288000" cy="4296229"/>
          </a:xfrm>
          <a:custGeom>
            <a:avLst/>
            <a:gdLst/>
            <a:ahLst/>
            <a:cxnLst/>
            <a:rect r="r" b="b" t="t" l="l"/>
            <a:pathLst>
              <a:path h="4296229" w="18288000">
                <a:moveTo>
                  <a:pt x="0" y="0"/>
                </a:moveTo>
                <a:lnTo>
                  <a:pt x="18288000" y="0"/>
                </a:lnTo>
                <a:lnTo>
                  <a:pt x="18288000" y="4296229"/>
                </a:lnTo>
                <a:lnTo>
                  <a:pt x="0" y="4296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08614" y="-133866"/>
            <a:ext cx="7903376" cy="152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98"/>
              </a:lnSpc>
            </a:pPr>
            <a:r>
              <a:rPr lang="en-US" sz="84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COMMIT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26903" y="4263178"/>
            <a:ext cx="9434193" cy="152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98"/>
              </a:lnSpc>
            </a:pPr>
            <a:r>
              <a:rPr lang="en-US" b="true" sz="842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DEMONSTRAÇÃO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DAG5pi52qo4</dc:identifier>
  <dcterms:modified xsi:type="dcterms:W3CDTF">2011-08-01T06:04:30Z</dcterms:modified>
  <cp:revision>1</cp:revision>
  <dc:title>tomasulo</dc:title>
</cp:coreProperties>
</file>